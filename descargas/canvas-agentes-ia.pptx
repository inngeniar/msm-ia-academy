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C4E"/>
          </a:solidFill>
          <a:ln>
            <a:solidFill>
              <a:srgbClr val="011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0CAF9"/>
                </a:solidFill>
              </a:defRPr>
            </a:pPr>
            <a:r>
              <a:t>PROGRAMA AVANZADO DE INTELIGENCIA ARTIFICIAL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Canvas de Arquitectura de Agentes de IA</a:t>
            </a:r>
          </a:p>
          <a:p>
            <a:pPr>
              <a:spcBef>
                <a:spcPts val="1500"/>
              </a:spcBef>
              <a:defRPr sz="1800">
                <a:solidFill>
                  <a:srgbClr val="DCE1EB"/>
                </a:solidFill>
              </a:defRPr>
            </a:pPr>
            <a:r>
              <a:t>Herramienta ejecutiva para el diseño, gobernanza y orquestación de sistemas agénticos autónomos en procesos de negocio.</a:t>
            </a:r>
          </a:p>
          <a:p>
            <a:pPr>
              <a:spcBef>
                <a:spcPts val="3000"/>
              </a:spcBef>
              <a:defRPr sz="1300">
                <a:solidFill>
                  <a:srgbClr val="B4C3D7"/>
                </a:solidFill>
              </a:defRPr>
            </a:pPr>
            <a:r>
              <a:t>Módulo 6: Agentes Autónomos, Multi-Agente &amp; Automatización End-to-End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11C4E"/>
                </a:solidFill>
              </a:defRPr>
            </a:pPr>
            <a:r>
              <a:t>Anatomía de un Agente Autónomo Empresarial</a:t>
            </a:r>
          </a:p>
          <a:p>
            <a:pPr>
              <a:defRPr sz="1200">
                <a:solidFill>
                  <a:srgbClr val="646973"/>
                </a:solidFill>
              </a:defRPr>
            </a:pPr>
            <a:r>
              <a:t>Los 4 componentes fundamentales que transforman un LLM pasivo en un agente operativo autónomo.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2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885"/>
                </a:solidFill>
              </a:defRPr>
            </a:pPr>
            <a:r>
              <a:t>1. Percepción y Triggers</a:t>
            </a:r>
          </a:p>
          <a:p>
            <a:pPr>
              <a:spcBef>
                <a:spcPts val="1400"/>
              </a:spcBef>
              <a:defRPr sz="1100">
                <a:solidFill>
                  <a:srgbClr val="212529"/>
                </a:solidFill>
              </a:defRPr>
            </a:pPr>
            <a:r>
              <a:t>Detecta eventos del entorno: nuevos correos, archivos en repositorios, alertas de bases de datos o solicitudes de usuarios.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2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885"/>
                </a:solidFill>
              </a:defRPr>
            </a:pPr>
            <a:r>
              <a:t>2. Razonamiento (ReAct)</a:t>
            </a:r>
          </a:p>
          <a:p>
            <a:pPr>
              <a:spcBef>
                <a:spcPts val="1400"/>
              </a:spcBef>
              <a:defRPr sz="1100">
                <a:solidFill>
                  <a:srgbClr val="212529"/>
                </a:solidFill>
              </a:defRPr>
            </a:pPr>
            <a:r>
              <a:t>Planifica y descompone metas en pasos lógicos: 'Pensar -&gt; Actuar -&gt; Observar -&gt; Ajustar' antes de tomar decisiones definitivas.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2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885"/>
                </a:solidFill>
              </a:defRPr>
            </a:pPr>
            <a:r>
              <a:t>3. Memoria (Contexto &amp; RAG)</a:t>
            </a:r>
          </a:p>
          <a:p>
            <a:pPr>
              <a:spcBef>
                <a:spcPts val="1400"/>
              </a:spcBef>
              <a:defRPr sz="1100">
                <a:solidFill>
                  <a:srgbClr val="212529"/>
                </a:solidFill>
              </a:defRPr>
            </a:pPr>
            <a:r>
              <a:t>Retiene historial de interacciones, reglas de negocio permanentes y consulta bases de conocimiento corporativas sin olvidar.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2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885"/>
                </a:solidFill>
              </a:defRPr>
            </a:pPr>
            <a:r>
              <a:t>4. Herramientas (Tool Use &amp; MCP)</a:t>
            </a:r>
          </a:p>
          <a:p>
            <a:pPr>
              <a:spcBef>
                <a:spcPts val="1400"/>
              </a:spcBef>
              <a:defRPr sz="1100">
                <a:solidFill>
                  <a:srgbClr val="212529"/>
                </a:solidFill>
              </a:defRPr>
            </a:pPr>
            <a:r>
              <a:t>Ejecuta acciones reales mediante APIs, consultas SQL, envío de notificaciones y actualización de sistemas ERP / CRM.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11C4E"/>
                </a:solidFill>
              </a:defRPr>
            </a:pPr>
            <a:r>
              <a:t>AI Agent Design Canvas (Lienzo de Diseño de Agente)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885"/>
                </a:solidFill>
              </a:defRPr>
            </a:pPr>
            <a:r>
              <a:t>1. Objetivo y Rol del Agente</a:t>
            </a:r>
          </a:p>
          <a:p>
            <a:pPr>
              <a:spcBef>
                <a:spcPts val="300"/>
              </a:spcBef>
              <a:defRPr sz="950">
                <a:solidFill>
                  <a:srgbClr val="787D87"/>
                </a:solidFill>
              </a:defRPr>
            </a:pPr>
            <a:r>
              <a:t>Misión precisa y alcance operativo en el proceso</a:t>
            </a:r>
          </a:p>
          <a:p>
            <a:pPr>
              <a:spcBef>
                <a:spcPts val="1000"/>
              </a:spcBef>
              <a:defRPr sz="1000">
                <a:solidFill>
                  <a:srgbClr val="A0A5AF"/>
                </a:solidFill>
              </a:defRPr>
            </a:pPr>
            <a:r>
              <a:t>[Haga clic aquí para escribir los detalles de su iniciativa]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18872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885"/>
                </a:solidFill>
              </a:defRPr>
            </a:pPr>
            <a:r>
              <a:t>2. Disparadores (Triggers)</a:t>
            </a:r>
          </a:p>
          <a:p>
            <a:pPr>
              <a:spcBef>
                <a:spcPts val="300"/>
              </a:spcBef>
              <a:defRPr sz="950">
                <a:solidFill>
                  <a:srgbClr val="787D87"/>
                </a:solidFill>
              </a:defRPr>
            </a:pPr>
            <a:r>
              <a:t>¿Qué activa el agente? (Archivos, Webhook, Schedule)</a:t>
            </a:r>
          </a:p>
          <a:p>
            <a:pPr>
              <a:spcBef>
                <a:spcPts val="1000"/>
              </a:spcBef>
              <a:defRPr sz="1000">
                <a:solidFill>
                  <a:srgbClr val="A0A5AF"/>
                </a:solidFill>
              </a:defRPr>
            </a:pPr>
            <a:r>
              <a:t>[Haga clic aquí para escribir los detalles de su iniciativa]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18872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885"/>
                </a:solidFill>
              </a:defRPr>
            </a:pPr>
            <a:r>
              <a:t>3. Nivel de Autonomía</a:t>
            </a:r>
          </a:p>
          <a:p>
            <a:pPr>
              <a:spcBef>
                <a:spcPts val="300"/>
              </a:spcBef>
              <a:defRPr sz="950">
                <a:solidFill>
                  <a:srgbClr val="787D87"/>
                </a:solidFill>
              </a:defRPr>
            </a:pPr>
            <a:r>
              <a:t>L1 Asistido | L2 Supervisado | L3 Autónomo con Excepción</a:t>
            </a:r>
          </a:p>
          <a:p>
            <a:pPr>
              <a:spcBef>
                <a:spcPts val="1000"/>
              </a:spcBef>
              <a:defRPr sz="1000">
                <a:solidFill>
                  <a:srgbClr val="A0A5AF"/>
                </a:solidFill>
              </a:defRPr>
            </a:pPr>
            <a:r>
              <a:t>[Haga clic aquí para escribir los detalles de su iniciativa]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885"/>
                </a:solidFill>
              </a:defRPr>
            </a:pPr>
            <a:r>
              <a:t>4. Herramientas y APIs (Tool Use)</a:t>
            </a:r>
          </a:p>
          <a:p>
            <a:pPr>
              <a:spcBef>
                <a:spcPts val="300"/>
              </a:spcBef>
              <a:defRPr sz="950">
                <a:solidFill>
                  <a:srgbClr val="787D87"/>
                </a:solidFill>
              </a:defRPr>
            </a:pPr>
            <a:r>
              <a:t>Conexiones a ERP, CRM, SQL, correo, etc.</a:t>
            </a:r>
          </a:p>
          <a:p>
            <a:pPr>
              <a:spcBef>
                <a:spcPts val="1000"/>
              </a:spcBef>
              <a:defRPr sz="1000">
                <a:solidFill>
                  <a:srgbClr val="A0A5AF"/>
                </a:solidFill>
              </a:defRPr>
            </a:pPr>
            <a:r>
              <a:t>[Haga clic aquí para escribir los detalles de su iniciativa]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97180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885"/>
                </a:solidFill>
              </a:defRPr>
            </a:pPr>
            <a:r>
              <a:t>5. Memoria y Base de Conocimiento</a:t>
            </a:r>
          </a:p>
          <a:p>
            <a:pPr>
              <a:spcBef>
                <a:spcPts val="300"/>
              </a:spcBef>
              <a:defRPr sz="950">
                <a:solidFill>
                  <a:srgbClr val="787D87"/>
                </a:solidFill>
              </a:defRPr>
            </a:pPr>
            <a:r>
              <a:t>RAG documental, embeddings y memoria de sesión</a:t>
            </a:r>
          </a:p>
          <a:p>
            <a:pPr>
              <a:spcBef>
                <a:spcPts val="1000"/>
              </a:spcBef>
              <a:defRPr sz="1000">
                <a:solidFill>
                  <a:srgbClr val="A0A5AF"/>
                </a:solidFill>
              </a:defRPr>
            </a:pPr>
            <a:r>
              <a:t>[Haga clic aquí para escribir los detalles de su iniciativa]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97180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885"/>
                </a:solidFill>
              </a:defRPr>
            </a:pPr>
            <a:r>
              <a:t>6. Escalamiento Humano (HITL)</a:t>
            </a:r>
          </a:p>
          <a:p>
            <a:pPr>
              <a:spcBef>
                <a:spcPts val="300"/>
              </a:spcBef>
              <a:defRPr sz="950">
                <a:solidFill>
                  <a:srgbClr val="787D87"/>
                </a:solidFill>
              </a:defRPr>
            </a:pPr>
            <a:r>
              <a:t>Umbrales de duda y criterios de transferencia a humanos</a:t>
            </a:r>
          </a:p>
          <a:p>
            <a:pPr>
              <a:spcBef>
                <a:spcPts val="1000"/>
              </a:spcBef>
              <a:defRPr sz="1000">
                <a:solidFill>
                  <a:srgbClr val="A0A5AF"/>
                </a:solidFill>
              </a:defRPr>
            </a:pPr>
            <a:r>
              <a:t>[Haga clic aquí para escribir los detalles de su iniciativa]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885"/>
                </a:solidFill>
              </a:defRPr>
            </a:pPr>
            <a:r>
              <a:t>7. Guardrails y Seguridad</a:t>
            </a:r>
          </a:p>
          <a:p>
            <a:pPr>
              <a:spcBef>
                <a:spcPts val="300"/>
              </a:spcBef>
              <a:defRPr sz="950">
                <a:solidFill>
                  <a:srgbClr val="787D87"/>
                </a:solidFill>
              </a:defRPr>
            </a:pPr>
            <a:r>
              <a:t>Límites de permisos, datos restringidos y presupuestos</a:t>
            </a:r>
          </a:p>
          <a:p>
            <a:pPr>
              <a:spcBef>
                <a:spcPts val="1000"/>
              </a:spcBef>
              <a:defRPr sz="1000">
                <a:solidFill>
                  <a:srgbClr val="A0A5AF"/>
                </a:solidFill>
              </a:defRPr>
            </a:pPr>
            <a:r>
              <a:t>[Haga clic aquí para escribir los detalles de su iniciativa]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75488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885"/>
                </a:solidFill>
              </a:defRPr>
            </a:pPr>
            <a:r>
              <a:t>8. Métricas de Éxito (KPI / STP)</a:t>
            </a:r>
          </a:p>
          <a:p>
            <a:pPr>
              <a:spcBef>
                <a:spcPts val="300"/>
              </a:spcBef>
              <a:defRPr sz="950">
                <a:solidFill>
                  <a:srgbClr val="787D87"/>
                </a:solidFill>
              </a:defRPr>
            </a:pPr>
            <a:r>
              <a:t>Tasa de autonomía, tiempo de ciclo y precisión</a:t>
            </a:r>
          </a:p>
          <a:p>
            <a:pPr>
              <a:spcBef>
                <a:spcPts val="1000"/>
              </a:spcBef>
              <a:defRPr sz="1000">
                <a:solidFill>
                  <a:srgbClr val="A0A5AF"/>
                </a:solidFill>
              </a:defRPr>
            </a:pPr>
            <a:r>
              <a:t>[Haga clic aquí para escribir los detalles de su iniciativa]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475488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885"/>
                </a:solidFill>
              </a:defRPr>
            </a:pPr>
            <a:r>
              <a:t>9. TCO y Ahorro Estimado</a:t>
            </a:r>
          </a:p>
          <a:p>
            <a:pPr>
              <a:spcBef>
                <a:spcPts val="300"/>
              </a:spcBef>
              <a:defRPr sz="950">
                <a:solidFill>
                  <a:srgbClr val="787D87"/>
                </a:solidFill>
              </a:defRPr>
            </a:pPr>
            <a:r>
              <a:t>Costo de inferencia vs. horas analista ahorradas</a:t>
            </a:r>
          </a:p>
          <a:p>
            <a:pPr>
              <a:spcBef>
                <a:spcPts val="1000"/>
              </a:spcBef>
              <a:defRPr sz="1000">
                <a:solidFill>
                  <a:srgbClr val="A0A5AF"/>
                </a:solidFill>
              </a:defRPr>
            </a:pPr>
            <a:r>
              <a:t>[Haga clic aquí para escribir los detalles de su iniciativa]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