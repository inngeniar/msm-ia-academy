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6" d="100"/>
          <a:sy n="156" d="100"/>
        </p:scale>
        <p:origin x="32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 rot="21240000">
            <a:off x="-914400" y="4846320"/>
            <a:ext cx="14630400" cy="2743200"/>
          </a:xfrm>
          <a:prstGeom prst="rect">
            <a:avLst/>
          </a:prstGeom>
          <a:solidFill>
            <a:srgbClr val="0028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400" b="1" i="0">
                <a:solidFill>
                  <a:srgbClr val="9DB4E3"/>
                </a:solidFill>
                <a:latin typeface="Calibri"/>
              </a:rPr>
              <a:t>MÓDULO 3  ·  SESIÓN 6  ·  OPTIMIZACIÓN OPERATIVA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16459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Plantilla: Diagrama de</a:t>
            </a:r>
          </a:p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Flujo de Procesos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66160"/>
            <a:ext cx="9875520" cy="10058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600" b="0" i="0">
                <a:solidFill>
                  <a:srgbClr val="D6E0F5"/>
                </a:solidFill>
                <a:latin typeface="Calibri"/>
              </a:rPr>
              <a:t>Herramienta editable para mapear procesos administrativos actuales y rediseñarlos con Inteligencia Artificial (admisiones, autorizaciones, agendamiento).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760720"/>
            <a:ext cx="10058400" cy="82296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Mundo Salud Médica (MSM)  ·  Programa Ejecutivo de Inteligencia Artificial en Salud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Edite esta plantilla en PowerPoint, Google Slides o Keynote.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11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28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00" b="1" i="0">
                <a:solidFill>
                  <a:srgbClr val="9DB4E3"/>
                </a:solidFill>
                <a:latin typeface="Calibri"/>
              </a:rPr>
              <a:t>CÓMO USAR ESTA PLANTILLA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Instrucciones y símbolos del flujograma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900" b="0" i="0">
                <a:solidFill>
                  <a:srgbClr val="646A71"/>
                </a:solidFill>
                <a:latin typeface="Calibri"/>
              </a:rPr>
              <a:t>Mundo Salud Medica  ·  Programa Ejecutivo de IA en Salud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228600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900" b="0" i="0">
                <a:solidFill>
                  <a:srgbClr val="646A71"/>
                </a:solidFill>
                <a:latin typeface="Calibri"/>
              </a:rPr>
              <a:t>Modulo 3 · Sesion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6583680" cy="36576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600" b="1" i="0">
                <a:solidFill>
                  <a:srgbClr val="002885"/>
                </a:solidFill>
                <a:latin typeface="Calibri"/>
              </a:rPr>
              <a:t>Pasos sugeridos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6492240" cy="411480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1.  Elija un proceso real de MSM (p. ej. admisión de pacientes o autorizaciones).</a:t>
            </a:r>
          </a:p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2.  En la diapositiva «Proceso ACTUAL», ajuste las formas y el texto para reflejar cómo ocurre hoy, paso a paso.</a:t>
            </a:r>
          </a:p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3.  En la diapositiva «Proceso OPTIMIZADO con IA», rediseñe el flujo incorporando automatización, predicción o chatbots.</a:t>
            </a:r>
          </a:p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4.  Use el «Lienzo en blanco» y la paleta de símbolos para construir desde cero.</a:t>
            </a:r>
          </a:p>
          <a:p>
            <a:pPr algn="l"/>
            <a:endParaRPr sz="1300" b="0" i="0">
              <a:solidFill>
                <a:srgbClr val="2D2D2D"/>
              </a:solidFill>
              <a:latin typeface="Calibri"/>
            </a:endParaRPr>
          </a:p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Editar formas:  haga doble clic para escribir · arrastre para mover · use los conectores (flechas) para unir pasos · copie y pegue símbolos de la paleta.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325880"/>
            <a:ext cx="4434840" cy="484632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0" y="1417320"/>
            <a:ext cx="4434840" cy="36576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/>
            <a:r>
              <a:rPr sz="1500" b="1" i="0">
                <a:solidFill>
                  <a:srgbClr val="011C4E"/>
                </a:solidFill>
                <a:latin typeface="Calibri"/>
              </a:rPr>
              <a:t>Leyenda de símbolos</a:t>
            </a:r>
          </a:p>
        </p:txBody>
      </p:sp>
      <p:sp>
        <p:nvSpPr>
          <p:cNvPr id="12" name="Terminator 11"/>
          <p:cNvSpPr/>
          <p:nvPr/>
        </p:nvSpPr>
        <p:spPr>
          <a:xfrm>
            <a:off x="7452360" y="1920240"/>
            <a:ext cx="914400" cy="566928"/>
          </a:xfrm>
          <a:prstGeom prst="flowChartTerminator">
            <a:avLst/>
          </a:prstGeom>
          <a:solidFill>
            <a:srgbClr val="002885"/>
          </a:solidFill>
          <a:ln w="9525">
            <a:solidFill>
              <a:srgbClr val="011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0" y="1901952"/>
            <a:ext cx="310896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250" b="1" i="0">
                <a:solidFill>
                  <a:srgbClr val="011C4E"/>
                </a:solidFill>
                <a:latin typeface="Calibri"/>
              </a:rPr>
              <a:t>Inicio / Fin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76272"/>
            <a:ext cx="3154680" cy="45720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000" b="0" i="0">
                <a:solidFill>
                  <a:srgbClr val="646A71"/>
                </a:solidFill>
                <a:latin typeface="Calibri"/>
              </a:rPr>
              <a:t>Marca el comienzo o el final del proceso.</a:t>
            </a:r>
          </a:p>
        </p:txBody>
      </p:sp>
      <p:sp>
        <p:nvSpPr>
          <p:cNvPr id="15" name="Process 14"/>
          <p:cNvSpPr/>
          <p:nvPr/>
        </p:nvSpPr>
        <p:spPr>
          <a:xfrm>
            <a:off x="7452360" y="2761488"/>
            <a:ext cx="914400" cy="566928"/>
          </a:xfrm>
          <a:prstGeom prst="flowChartProcess">
            <a:avLst/>
          </a:prstGeom>
          <a:solidFill>
            <a:srgbClr val="3A5AA0"/>
          </a:solidFill>
          <a:ln w="9525">
            <a:solidFill>
              <a:srgbClr val="011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0" y="2743200"/>
            <a:ext cx="310896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250" b="1" i="0">
                <a:solidFill>
                  <a:srgbClr val="011C4E"/>
                </a:solidFill>
                <a:latin typeface="Calibri"/>
              </a:rPr>
              <a:t>Actividad / Proceso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017520"/>
            <a:ext cx="3154680" cy="45720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000" b="0" i="0">
                <a:solidFill>
                  <a:srgbClr val="646A71"/>
                </a:solidFill>
                <a:latin typeface="Calibri"/>
              </a:rPr>
              <a:t>Una tarea o paso que se ejecuta.</a:t>
            </a:r>
          </a:p>
        </p:txBody>
      </p:sp>
      <p:sp>
        <p:nvSpPr>
          <p:cNvPr id="18" name="Decision 17"/>
          <p:cNvSpPr/>
          <p:nvPr/>
        </p:nvSpPr>
        <p:spPr>
          <a:xfrm>
            <a:off x="7452360" y="3602736"/>
            <a:ext cx="914400" cy="566928"/>
          </a:xfrm>
          <a:prstGeom prst="flowChartDecision">
            <a:avLst/>
          </a:prstGeom>
          <a:solidFill>
            <a:srgbClr val="646A71"/>
          </a:solidFill>
          <a:ln w="9525">
            <a:solidFill>
              <a:srgbClr val="011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0" y="3584448"/>
            <a:ext cx="310896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250" b="1" i="0">
                <a:solidFill>
                  <a:srgbClr val="011C4E"/>
                </a:solidFill>
                <a:latin typeface="Calibri"/>
              </a:rPr>
              <a:t>Decisión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858768"/>
            <a:ext cx="3154680" cy="45720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000" b="0" i="0">
                <a:solidFill>
                  <a:srgbClr val="646A71"/>
                </a:solidFill>
                <a:latin typeface="Calibri"/>
              </a:rPr>
              <a:t>Pregunta Sí/No que bifurca el flujo.</a:t>
            </a:r>
          </a:p>
        </p:txBody>
      </p:sp>
      <p:sp>
        <p:nvSpPr>
          <p:cNvPr id="21" name="Data 20"/>
          <p:cNvSpPr/>
          <p:nvPr/>
        </p:nvSpPr>
        <p:spPr>
          <a:xfrm>
            <a:off x="7452360" y="4443984"/>
            <a:ext cx="914400" cy="566928"/>
          </a:xfrm>
          <a:prstGeom prst="flowChartInputOutput">
            <a:avLst/>
          </a:prstGeom>
          <a:solidFill>
            <a:srgbClr val="1E7A46"/>
          </a:solidFill>
          <a:ln w="9525">
            <a:solidFill>
              <a:srgbClr val="011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0" y="4425696"/>
            <a:ext cx="310896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250" b="1" i="0">
                <a:solidFill>
                  <a:srgbClr val="011C4E"/>
                </a:solidFill>
                <a:latin typeface="Calibri"/>
              </a:rPr>
              <a:t>Entrada / Salida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700016"/>
            <a:ext cx="3154680" cy="45720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000" b="0" i="0">
                <a:solidFill>
                  <a:srgbClr val="646A71"/>
                </a:solidFill>
                <a:latin typeface="Calibri"/>
              </a:rPr>
              <a:t>Datos que entran o salen (formulario, dato).</a:t>
            </a:r>
          </a:p>
        </p:txBody>
      </p:sp>
      <p:sp>
        <p:nvSpPr>
          <p:cNvPr id="24" name="Document 23"/>
          <p:cNvSpPr/>
          <p:nvPr/>
        </p:nvSpPr>
        <p:spPr>
          <a:xfrm>
            <a:off x="7452360" y="5285232"/>
            <a:ext cx="914400" cy="566928"/>
          </a:xfrm>
          <a:prstGeom prst="flowChartDocument">
            <a:avLst/>
          </a:prstGeom>
          <a:solidFill>
            <a:srgbClr val="A66A00"/>
          </a:solidFill>
          <a:ln w="9525">
            <a:solidFill>
              <a:srgbClr val="011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03920" y="5266944"/>
            <a:ext cx="310896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250" b="1" i="0">
                <a:solidFill>
                  <a:srgbClr val="011C4E"/>
                </a:solidFill>
                <a:latin typeface="Calibri"/>
              </a:rPr>
              <a:t>Documento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5541264"/>
            <a:ext cx="3154680" cy="45720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000" b="0" i="0">
                <a:solidFill>
                  <a:srgbClr val="646A71"/>
                </a:solidFill>
                <a:latin typeface="Calibri"/>
              </a:rPr>
              <a:t>Genera un documento o reporte.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11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28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00" b="1" i="0">
                <a:solidFill>
                  <a:srgbClr val="9DB4E3"/>
                </a:solidFill>
                <a:latin typeface="Calibri"/>
              </a:rPr>
              <a:t>EJEMPLO EDITABLE — REEMPLACE CON SU PROCESO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Proceso ACTUAL: Admisión de pacientes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900" b="0" i="0">
                <a:solidFill>
                  <a:srgbClr val="646A71"/>
                </a:solidFill>
                <a:latin typeface="Calibri"/>
              </a:rPr>
              <a:t>Mundo Salud Medica  ·  Programa Ejecutivo de IA en Salud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228600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900" b="0" i="0">
                <a:solidFill>
                  <a:srgbClr val="646A71"/>
                </a:solidFill>
                <a:latin typeface="Calibri"/>
              </a:rPr>
              <a:t>Modulo 3 · Sesion 6</a:t>
            </a:r>
          </a:p>
        </p:txBody>
      </p:sp>
      <p:sp>
        <p:nvSpPr>
          <p:cNvPr id="8" name="Terminator 7"/>
          <p:cNvSpPr/>
          <p:nvPr/>
        </p:nvSpPr>
        <p:spPr>
          <a:xfrm>
            <a:off x="457200" y="1920240"/>
            <a:ext cx="1554480" cy="868680"/>
          </a:xfrm>
          <a:prstGeom prst="flowChartTerminator">
            <a:avLst/>
          </a:prstGeom>
          <a:solidFill>
            <a:srgbClr val="002885"/>
          </a:solidFill>
          <a:ln w="12700">
            <a:solidFill>
              <a:srgbClr val="0028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Inicio</a:t>
            </a:r>
          </a:p>
        </p:txBody>
      </p:sp>
      <p:sp>
        <p:nvSpPr>
          <p:cNvPr id="9" name="Process 8"/>
          <p:cNvSpPr/>
          <p:nvPr/>
        </p:nvSpPr>
        <p:spPr>
          <a:xfrm>
            <a:off x="2331720" y="1920240"/>
            <a:ext cx="1920240" cy="868680"/>
          </a:xfrm>
          <a:prstGeom prst="flowChartProcess">
            <a:avLst/>
          </a:prstGeom>
          <a:solidFill>
            <a:srgbClr val="3A5AA0"/>
          </a:solidFill>
          <a:ln w="12700">
            <a:solidFill>
              <a:srgbClr val="0028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Paciente llega a ventanilla</a:t>
            </a:r>
          </a:p>
        </p:txBody>
      </p:sp>
      <p:sp>
        <p:nvSpPr>
          <p:cNvPr id="10" name="Data 9"/>
          <p:cNvSpPr/>
          <p:nvPr/>
        </p:nvSpPr>
        <p:spPr>
          <a:xfrm>
            <a:off x="4572000" y="1920240"/>
            <a:ext cx="1920240" cy="868680"/>
          </a:xfrm>
          <a:prstGeom prst="flowChartInputOutput">
            <a:avLst/>
          </a:prstGeom>
          <a:solidFill>
            <a:srgbClr val="1E7A46"/>
          </a:solidFill>
          <a:ln w="12700">
            <a:solidFill>
              <a:srgbClr val="0028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Toma de datos manual</a:t>
            </a:r>
          </a:p>
        </p:txBody>
      </p:sp>
      <p:sp>
        <p:nvSpPr>
          <p:cNvPr id="11" name="Decision 10"/>
          <p:cNvSpPr/>
          <p:nvPr/>
        </p:nvSpPr>
        <p:spPr>
          <a:xfrm>
            <a:off x="6858000" y="1783080"/>
            <a:ext cx="2011680" cy="1143000"/>
          </a:xfrm>
          <a:prstGeom prst="flowChartDecision">
            <a:avLst/>
          </a:prstGeom>
          <a:solidFill>
            <a:srgbClr val="646A71"/>
          </a:solidFill>
          <a:ln w="12700">
            <a:solidFill>
              <a:srgbClr val="0028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¿Derechos vigentes?</a:t>
            </a:r>
          </a:p>
        </p:txBody>
      </p:sp>
      <p:sp>
        <p:nvSpPr>
          <p:cNvPr id="12" name="Document 11"/>
          <p:cNvSpPr/>
          <p:nvPr/>
        </p:nvSpPr>
        <p:spPr>
          <a:xfrm>
            <a:off x="9509760" y="1920240"/>
            <a:ext cx="2103120" cy="868680"/>
          </a:xfrm>
          <a:prstGeom prst="flowChartDocument">
            <a:avLst/>
          </a:prstGeom>
          <a:solidFill>
            <a:srgbClr val="A66A00"/>
          </a:solidFill>
          <a:ln w="12700">
            <a:solidFill>
              <a:srgbClr val="0028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Registro en sistema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11680" y="2354580"/>
            <a:ext cx="320040" cy="0"/>
          </a:xfrm>
          <a:prstGeom prst="bentConnector3">
            <a:avLst/>
          </a:prstGeom>
          <a:ln w="19050">
            <a:solidFill>
              <a:srgbClr val="646A7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251960" y="2354580"/>
            <a:ext cx="320040" cy="0"/>
          </a:xfrm>
          <a:prstGeom prst="bentConnector3">
            <a:avLst/>
          </a:prstGeom>
          <a:ln w="19050">
            <a:solidFill>
              <a:srgbClr val="646A7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92240" y="2354580"/>
            <a:ext cx="365760" cy="0"/>
          </a:xfrm>
          <a:prstGeom prst="bentConnector3">
            <a:avLst/>
          </a:prstGeom>
          <a:ln w="19050">
            <a:solidFill>
              <a:srgbClr val="646A7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869680" y="2354580"/>
            <a:ext cx="640080" cy="0"/>
          </a:xfrm>
          <a:prstGeom prst="bentConnector3">
            <a:avLst/>
          </a:prstGeom>
          <a:ln w="19050">
            <a:solidFill>
              <a:srgbClr val="646A7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cess 16"/>
          <p:cNvSpPr/>
          <p:nvPr/>
        </p:nvSpPr>
        <p:spPr>
          <a:xfrm>
            <a:off x="6858000" y="3566160"/>
            <a:ext cx="2011680" cy="868680"/>
          </a:xfrm>
          <a:prstGeom prst="flowChartProcess">
            <a:avLst/>
          </a:prstGeom>
          <a:solidFill>
            <a:srgbClr val="3A5AA0"/>
          </a:solidFill>
          <a:ln w="12700">
            <a:solidFill>
              <a:srgbClr val="0028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Verificación telefónica con EPS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63840" y="2926080"/>
            <a:ext cx="0" cy="640080"/>
          </a:xfrm>
          <a:prstGeom prst="bentConnector3">
            <a:avLst/>
          </a:prstGeom>
          <a:ln w="19050">
            <a:solidFill>
              <a:srgbClr val="646A7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086600" y="3108960"/>
            <a:ext cx="109728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00" b="1" i="0">
                <a:solidFill>
                  <a:srgbClr val="011C4E"/>
                </a:solidFill>
                <a:latin typeface="Calibri"/>
              </a:rPr>
              <a:t>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1874519"/>
            <a:ext cx="64008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00" b="1" i="0">
                <a:solidFill>
                  <a:srgbClr val="011C4E"/>
                </a:solidFill>
                <a:latin typeface="Calibri"/>
              </a:rPr>
              <a:t>Sí</a:t>
            </a:r>
          </a:p>
        </p:txBody>
      </p:sp>
      <p:sp>
        <p:nvSpPr>
          <p:cNvPr id="21" name="Terminator 20"/>
          <p:cNvSpPr/>
          <p:nvPr/>
        </p:nvSpPr>
        <p:spPr>
          <a:xfrm>
            <a:off x="9966960" y="3566160"/>
            <a:ext cx="1554480" cy="868680"/>
          </a:xfrm>
          <a:prstGeom prst="flowChartTerminator">
            <a:avLst/>
          </a:prstGeom>
          <a:solidFill>
            <a:srgbClr val="002885"/>
          </a:solidFill>
          <a:ln w="12700">
            <a:solidFill>
              <a:srgbClr val="0028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Fin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561320" y="2788920"/>
            <a:ext cx="182880" cy="777240"/>
          </a:xfrm>
          <a:prstGeom prst="bentConnector3">
            <a:avLst/>
          </a:prstGeom>
          <a:ln w="19050">
            <a:solidFill>
              <a:srgbClr val="646A7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57200" y="5120640"/>
            <a:ext cx="11247120" cy="1051560"/>
          </a:xfrm>
          <a:prstGeom prst="rect">
            <a:avLst/>
          </a:prstGeom>
          <a:solidFill>
            <a:srgbClr val="FFF6E8"/>
          </a:solidFill>
          <a:ln w="12700">
            <a:solidFill>
              <a:srgbClr val="F3D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230368"/>
            <a:ext cx="10972800" cy="91440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250" b="1" i="0">
                <a:solidFill>
                  <a:srgbClr val="A66A00"/>
                </a:solidFill>
                <a:latin typeface="Calibri"/>
              </a:rPr>
              <a:t>✎  Puntos de dolor a identificar (edite): ¿dónde hay esperas, reprocesos o tareas manuales repetitivas? Marque en rojo los pasos que la IA podría automatizar o predecir.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11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28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00" b="1" i="0">
                <a:solidFill>
                  <a:srgbClr val="9DB4E3"/>
                </a:solidFill>
                <a:latin typeface="Calibri"/>
              </a:rPr>
              <a:t>COMPLETE USTED — REDISEÑO CON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Proceso OPTIMIZADO con Inteligencia Artificial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900" b="0" i="0">
                <a:solidFill>
                  <a:srgbClr val="646A71"/>
                </a:solidFill>
                <a:latin typeface="Calibri"/>
              </a:rPr>
              <a:t>Mundo Salud Medica  ·  Programa Ejecutivo de IA en Salud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228600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900" b="0" i="0">
                <a:solidFill>
                  <a:srgbClr val="646A71"/>
                </a:solidFill>
                <a:latin typeface="Calibri"/>
              </a:rPr>
              <a:t>Modulo 3 · Sesion 6</a:t>
            </a:r>
          </a:p>
        </p:txBody>
      </p:sp>
      <p:sp>
        <p:nvSpPr>
          <p:cNvPr id="8" name="Terminator 7"/>
          <p:cNvSpPr/>
          <p:nvPr/>
        </p:nvSpPr>
        <p:spPr>
          <a:xfrm>
            <a:off x="457200" y="2103120"/>
            <a:ext cx="1554480" cy="914400"/>
          </a:xfrm>
          <a:prstGeom prst="flowChartTerminator">
            <a:avLst/>
          </a:prstGeom>
          <a:solidFill>
            <a:srgbClr val="002885"/>
          </a:solidFill>
          <a:ln w="12700">
            <a:solidFill>
              <a:srgbClr val="0028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Inicio</a:t>
            </a:r>
          </a:p>
        </p:txBody>
      </p:sp>
      <p:sp>
        <p:nvSpPr>
          <p:cNvPr id="9" name="Process 8"/>
          <p:cNvSpPr/>
          <p:nvPr/>
        </p:nvSpPr>
        <p:spPr>
          <a:xfrm>
            <a:off x="2286000" y="2103120"/>
            <a:ext cx="2103120" cy="914400"/>
          </a:xfrm>
          <a:prstGeom prst="flowChartProcess">
            <a:avLst/>
          </a:prstGeom>
          <a:solidFill>
            <a:srgbClr val="FFFFFF"/>
          </a:solidFill>
          <a:ln w="15875">
            <a:solidFill>
              <a:srgbClr val="0028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00" b="0">
                <a:solidFill>
                  <a:srgbClr val="646A71"/>
                </a:solidFill>
                <a:latin typeface="Calibri"/>
              </a:rPr>
              <a:t>[ Paso con IA ]</a:t>
            </a:r>
          </a:p>
        </p:txBody>
      </p:sp>
      <p:sp>
        <p:nvSpPr>
          <p:cNvPr id="10" name="Decision 9"/>
          <p:cNvSpPr/>
          <p:nvPr/>
        </p:nvSpPr>
        <p:spPr>
          <a:xfrm>
            <a:off x="4754880" y="1965960"/>
            <a:ext cx="2103120" cy="1188720"/>
          </a:xfrm>
          <a:prstGeom prst="flowChartDecision">
            <a:avLst/>
          </a:prstGeom>
          <a:solidFill>
            <a:srgbClr val="FFFFFF"/>
          </a:solidFill>
          <a:ln w="15875">
            <a:solidFill>
              <a:srgbClr val="646A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0">
                <a:solidFill>
                  <a:srgbClr val="646A71"/>
                </a:solidFill>
                <a:latin typeface="Calibri"/>
              </a:rPr>
              <a:t>[ ¿Decisión? ]</a:t>
            </a:r>
          </a:p>
        </p:txBody>
      </p:sp>
      <p:sp>
        <p:nvSpPr>
          <p:cNvPr id="11" name="Process 10"/>
          <p:cNvSpPr/>
          <p:nvPr/>
        </p:nvSpPr>
        <p:spPr>
          <a:xfrm>
            <a:off x="7223760" y="2103120"/>
            <a:ext cx="2103120" cy="914400"/>
          </a:xfrm>
          <a:prstGeom prst="flowChartProcess">
            <a:avLst/>
          </a:prstGeom>
          <a:solidFill>
            <a:srgbClr val="FFFFFF"/>
          </a:solidFill>
          <a:ln w="15875">
            <a:solidFill>
              <a:srgbClr val="0028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00" b="0">
                <a:solidFill>
                  <a:srgbClr val="646A71"/>
                </a:solidFill>
                <a:latin typeface="Calibri"/>
              </a:rPr>
              <a:t>[ Paso con IA ]</a:t>
            </a:r>
          </a:p>
        </p:txBody>
      </p:sp>
      <p:sp>
        <p:nvSpPr>
          <p:cNvPr id="12" name="Terminator 11"/>
          <p:cNvSpPr/>
          <p:nvPr/>
        </p:nvSpPr>
        <p:spPr>
          <a:xfrm>
            <a:off x="9966960" y="2103120"/>
            <a:ext cx="1554480" cy="914400"/>
          </a:xfrm>
          <a:prstGeom prst="flowChartTerminator">
            <a:avLst/>
          </a:prstGeom>
          <a:solidFill>
            <a:srgbClr val="002885"/>
          </a:solidFill>
          <a:ln w="12700">
            <a:solidFill>
              <a:srgbClr val="0028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Fin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11680" y="2560320"/>
            <a:ext cx="274320" cy="0"/>
          </a:xfrm>
          <a:prstGeom prst="bentConnector3">
            <a:avLst/>
          </a:prstGeom>
          <a:ln w="19050">
            <a:solidFill>
              <a:srgbClr val="646A7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389120" y="2560320"/>
            <a:ext cx="365760" cy="0"/>
          </a:xfrm>
          <a:prstGeom prst="bentConnector3">
            <a:avLst/>
          </a:prstGeom>
          <a:ln w="19050">
            <a:solidFill>
              <a:srgbClr val="646A7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58000" y="2560320"/>
            <a:ext cx="365760" cy="0"/>
          </a:xfrm>
          <a:prstGeom prst="bentConnector3">
            <a:avLst/>
          </a:prstGeom>
          <a:ln w="19050">
            <a:solidFill>
              <a:srgbClr val="646A7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326880" y="2560320"/>
            <a:ext cx="640080" cy="0"/>
          </a:xfrm>
          <a:prstGeom prst="bentConnector3">
            <a:avLst/>
          </a:prstGeom>
          <a:ln w="19050">
            <a:solidFill>
              <a:srgbClr val="646A7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3840480"/>
            <a:ext cx="11247120" cy="22860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400" b="1" i="0">
                <a:solidFill>
                  <a:srgbClr val="011C4E"/>
                </a:solidFill>
                <a:latin typeface="Calibri"/>
              </a:rPr>
              <a:t>Banco de ideas de IA para incorporar al flujo (arrastre o escriba en los pasos de arriba)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89120"/>
            <a:ext cx="5486400" cy="173736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•  Pre-registro vía chatbot (WhatsApp) antes de la llegada del paciente.</a:t>
            </a:r>
          </a:p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•  Verificación automática de derechos vía API con la aseguradora.</a:t>
            </a:r>
          </a:p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•  Predicción de demanda para asignar personal por franja horaria.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389120"/>
            <a:ext cx="5303520" cy="173736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•  Recordatorios inteligentes para reducir inasistencias (no-shows).</a:t>
            </a:r>
          </a:p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•  Asignación automática de citas según prioridad y recursos.</a:t>
            </a:r>
          </a:p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•  Seguimiento en tiempo real del estado de autorizaciones.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11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28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00" b="1" i="0">
                <a:solidFill>
                  <a:srgbClr val="9DB4E3"/>
                </a:solidFill>
                <a:latin typeface="Calibri"/>
              </a:rPr>
              <a:t>CONSTRUYA DESDE CERO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Lienzo en blanco · Paleta de símbolos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900" b="0" i="0">
                <a:solidFill>
                  <a:srgbClr val="646A71"/>
                </a:solidFill>
                <a:latin typeface="Calibri"/>
              </a:rPr>
              <a:t>Mundo Salud Medica  ·  Programa Ejecutivo de IA en Salud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228600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900" b="0" i="0">
                <a:solidFill>
                  <a:srgbClr val="646A71"/>
                </a:solidFill>
                <a:latin typeface="Calibri"/>
              </a:rPr>
              <a:t>Modulo 3 · Sesion 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286000" cy="484632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444752"/>
            <a:ext cx="228600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/>
            <a:r>
              <a:rPr sz="1400" b="1" i="0">
                <a:solidFill>
                  <a:srgbClr val="011C4E"/>
                </a:solidFill>
                <a:latin typeface="Calibri"/>
              </a:rPr>
              <a:t>Paleta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83080"/>
            <a:ext cx="2194560" cy="45720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/>
            <a:r>
              <a:rPr sz="950" b="0" i="0">
                <a:solidFill>
                  <a:srgbClr val="646A71"/>
                </a:solidFill>
                <a:latin typeface="Calibri"/>
              </a:rPr>
              <a:t>Copie (Ctrl+C) y pegue en el lienzo →</a:t>
            </a:r>
          </a:p>
        </p:txBody>
      </p:sp>
      <p:sp>
        <p:nvSpPr>
          <p:cNvPr id="11" name="Terminator 10"/>
          <p:cNvSpPr/>
          <p:nvPr/>
        </p:nvSpPr>
        <p:spPr>
          <a:xfrm>
            <a:off x="548640" y="2286000"/>
            <a:ext cx="1371600" cy="566928"/>
          </a:xfrm>
          <a:prstGeom prst="flowChartTerminator">
            <a:avLst/>
          </a:prstGeom>
          <a:solidFill>
            <a:srgbClr val="002885"/>
          </a:solidFill>
          <a:ln w="9525">
            <a:solidFill>
              <a:srgbClr val="011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Inicio/Fin</a:t>
            </a:r>
          </a:p>
        </p:txBody>
      </p:sp>
      <p:sp>
        <p:nvSpPr>
          <p:cNvPr id="12" name="Process 11"/>
          <p:cNvSpPr/>
          <p:nvPr/>
        </p:nvSpPr>
        <p:spPr>
          <a:xfrm>
            <a:off x="548640" y="3063240"/>
            <a:ext cx="1371600" cy="566928"/>
          </a:xfrm>
          <a:prstGeom prst="flowChartProcess">
            <a:avLst/>
          </a:prstGeom>
          <a:solidFill>
            <a:srgbClr val="3A5AA0"/>
          </a:solidFill>
          <a:ln w="9525">
            <a:solidFill>
              <a:srgbClr val="011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Proceso</a:t>
            </a:r>
          </a:p>
        </p:txBody>
      </p:sp>
      <p:sp>
        <p:nvSpPr>
          <p:cNvPr id="13" name="Decision 12"/>
          <p:cNvSpPr/>
          <p:nvPr/>
        </p:nvSpPr>
        <p:spPr>
          <a:xfrm>
            <a:off x="548640" y="3840480"/>
            <a:ext cx="1371600" cy="566928"/>
          </a:xfrm>
          <a:prstGeom prst="flowChartDecision">
            <a:avLst/>
          </a:prstGeom>
          <a:solidFill>
            <a:srgbClr val="646A71"/>
          </a:solidFill>
          <a:ln w="9525">
            <a:solidFill>
              <a:srgbClr val="011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Decisión</a:t>
            </a:r>
          </a:p>
        </p:txBody>
      </p:sp>
      <p:sp>
        <p:nvSpPr>
          <p:cNvPr id="14" name="Data 13"/>
          <p:cNvSpPr/>
          <p:nvPr/>
        </p:nvSpPr>
        <p:spPr>
          <a:xfrm>
            <a:off x="548640" y="4617720"/>
            <a:ext cx="1371600" cy="566928"/>
          </a:xfrm>
          <a:prstGeom prst="flowChartInputOutput">
            <a:avLst/>
          </a:prstGeom>
          <a:solidFill>
            <a:srgbClr val="1E7A46"/>
          </a:solidFill>
          <a:ln w="9525">
            <a:solidFill>
              <a:srgbClr val="011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Datos</a:t>
            </a:r>
          </a:p>
        </p:txBody>
      </p:sp>
      <p:sp>
        <p:nvSpPr>
          <p:cNvPr id="15" name="Document 14"/>
          <p:cNvSpPr/>
          <p:nvPr/>
        </p:nvSpPr>
        <p:spPr>
          <a:xfrm>
            <a:off x="548640" y="5394960"/>
            <a:ext cx="1371600" cy="566928"/>
          </a:xfrm>
          <a:prstGeom prst="flowChartDocument">
            <a:avLst/>
          </a:prstGeom>
          <a:solidFill>
            <a:srgbClr val="A66A00"/>
          </a:solidFill>
          <a:ln w="9525">
            <a:solidFill>
              <a:srgbClr val="011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Documento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1371600"/>
            <a:ext cx="89611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0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34640" y="3566160"/>
            <a:ext cx="8961120" cy="45720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/>
            <a:r>
              <a:rPr sz="1300" b="0" i="1">
                <a:solidFill>
                  <a:srgbClr val="B5C2D8"/>
                </a:solidFill>
                <a:latin typeface="Calibri"/>
              </a:rPr>
              <a:t>Área de trabajo — arrastre aquí sus símbolos y conecte los pasos con flechas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526</Words>
  <Application>Microsoft Office PowerPoint</Application>
  <PresentationFormat>Panorámica</PresentationFormat>
  <Paragraphs>70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Nicolás Fernando Bedoya Mejía</dc:creator>
  <cp:keywords/>
  <dc:description>generated using python-pptx</dc:description>
  <cp:lastModifiedBy>Nicolás Fernando Bedoya Mejía</cp:lastModifiedBy>
  <cp:revision>1</cp:revision>
  <dcterms:created xsi:type="dcterms:W3CDTF">2013-01-27T09:14:16Z</dcterms:created>
  <dcterms:modified xsi:type="dcterms:W3CDTF">2026-10-04T17:48:42Z</dcterms:modified>
  <cp:category/>
</cp:coreProperties>
</file>