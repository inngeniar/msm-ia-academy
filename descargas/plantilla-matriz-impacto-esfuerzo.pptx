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24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21240000">
            <a:off x="-914400" y="4846320"/>
            <a:ext cx="14630400" cy="27432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9DB4E3"/>
                </a:solidFill>
                <a:latin typeface="Calibri"/>
              </a:rPr>
              <a:t>MÓDULO 5  ·  SESIÓN 9  ·  PRIORIZACIÓN DE PROYECTOS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98480" cy="16459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Plantilla: Matriz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Impacto vs. Esfuerzo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9966960" cy="10058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600" b="0" i="0">
                <a:solidFill>
                  <a:srgbClr val="D6E0F5"/>
                </a:solidFill>
                <a:latin typeface="Calibri"/>
              </a:rPr>
              <a:t>Herramienta editable para priorizar iniciativas de IA en MSM según su impacto operativo y el esfuerzo de implementación, e identificar los Quick Wins.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60720"/>
            <a:ext cx="10058400" cy="8229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Mundo Salud Médica (MSM)  ·  Programa Ejecutivo de Inteligencia Artificial en Salud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Edite esta plantilla en PowerPoint, Google Slides o Keynote.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9DB4E3"/>
                </a:solidFill>
                <a:latin typeface="Calibri"/>
              </a:rPr>
              <a:t>CÓMO USAR ESTA PLANTILLA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Instrucciones y los cuatro cuadrantes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 i="0">
                <a:solidFill>
                  <a:srgbClr val="646A71"/>
                </a:solidFill>
                <a:latin typeface="Calibri"/>
              </a:rPr>
              <a:t>Mundo Salud Medica  ·  Programa Ejecutivo de IA en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6A71"/>
                </a:solidFill>
                <a:latin typeface="Calibri"/>
              </a:rPr>
              <a:t>Modulo 5 · Sesion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58368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600" b="1" i="0">
                <a:solidFill>
                  <a:srgbClr val="002885"/>
                </a:solidFill>
                <a:latin typeface="Calibri"/>
              </a:rPr>
              <a:t>Pasos sugeridos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6492240" cy="2926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1.  Liste sus iniciativas de IA candidatas (use la hoja de puntuación de la última diapositiva).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2.  Puntue cada proyecto en Impacto (1–5) y Esfuerzo (1–5).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3.  Arrastre cada tarjeta de proyecto al cuadrante que le corresponde en la matriz.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4.  Priorice: primero los Quick Wins, luego los Estratégicos. Descarte los de bajo valor.</a:t>
            </a:r>
          </a:p>
          <a:p>
            <a:pPr algn="l"/>
            <a:endParaRPr sz="130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Editar: haga doble clic en una tarjeta para renombrarla · arrastre para moverla · copie y pegue para crear más tarjetas.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25880"/>
            <a:ext cx="4434840" cy="484632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44348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500" b="1" i="0">
                <a:solidFill>
                  <a:srgbClr val="011C4E"/>
                </a:solidFill>
                <a:latin typeface="Calibri"/>
              </a:rPr>
              <a:t>Los 4 cuadrantes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0" y="1965960"/>
            <a:ext cx="457200" cy="45720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947672"/>
            <a:ext cx="35661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011C4E"/>
                </a:solidFill>
                <a:latin typeface="Calibri"/>
              </a:rPr>
              <a:t>Quick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240280"/>
            <a:ext cx="35661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Alto impacto · Bajo esfuerzo. Empiece aquí.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0" y="2953512"/>
            <a:ext cx="457200" cy="457200"/>
          </a:xfrm>
          <a:prstGeom prst="ellipse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2935224"/>
            <a:ext cx="35661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011C4E"/>
                </a:solidFill>
                <a:latin typeface="Calibri"/>
              </a:rPr>
              <a:t>Estratégico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227832"/>
            <a:ext cx="35661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Alto impacto · Alto esfuerzo. Planifique.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0" y="3941064"/>
            <a:ext cx="457200" cy="457200"/>
          </a:xfrm>
          <a:prstGeom prst="ellipse">
            <a:avLst/>
          </a:prstGeom>
          <a:solidFill>
            <a:srgbClr val="64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3922776"/>
            <a:ext cx="35661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011C4E"/>
                </a:solidFill>
                <a:latin typeface="Calibri"/>
              </a:rPr>
              <a:t>Táctico / Relleno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215384"/>
            <a:ext cx="35661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Bajo impacto · Bajo esfuerzo. Si sobra tiempo.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0" y="4928616"/>
            <a:ext cx="457200" cy="457200"/>
          </a:xfrm>
          <a:prstGeom prst="ellipse">
            <a:avLst/>
          </a:prstGeom>
          <a:solidFill>
            <a:srgbClr val="A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4910328"/>
            <a:ext cx="356616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011C4E"/>
                </a:solidFill>
                <a:latin typeface="Calibri"/>
              </a:rPr>
              <a:t>Evitar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202936"/>
            <a:ext cx="356616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000" b="0" i="0">
                <a:solidFill>
                  <a:srgbClr val="646A71"/>
                </a:solidFill>
                <a:latin typeface="Calibri"/>
              </a:rPr>
              <a:t>Bajo impacto · Alto esfuerzo. Descarte.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9DB4E3"/>
                </a:solidFill>
                <a:latin typeface="Calibri"/>
              </a:rPr>
              <a:t>ARRASTRE LAS TARJETAS AL CUADRANTE CORRECTO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Matriz Impacto vs. Esfuerzo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 i="0">
                <a:solidFill>
                  <a:srgbClr val="646A71"/>
                </a:solidFill>
                <a:latin typeface="Calibri"/>
              </a:rPr>
              <a:t>Mundo Salud Medica  ·  Programa Ejecutivo de IA en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6A71"/>
                </a:solidFill>
                <a:latin typeface="Calibri"/>
              </a:rPr>
              <a:t>Modulo 5 · Sesion 9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417320"/>
            <a:ext cx="4297680" cy="224028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4297680" cy="2240280"/>
          </a:xfrm>
          <a:prstGeom prst="rect">
            <a:avLst/>
          </a:prstGeom>
          <a:solidFill>
            <a:srgbClr val="E7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20240" y="3657600"/>
            <a:ext cx="4297680" cy="224028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3657600"/>
            <a:ext cx="4297680" cy="224028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1417320"/>
            <a:ext cx="8595360" cy="4480560"/>
          </a:xfrm>
          <a:prstGeom prst="rect">
            <a:avLst/>
          </a:prstGeom>
          <a:noFill/>
          <a:ln w="15875">
            <a:solidFill>
              <a:srgbClr val="646A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08395" y="1417320"/>
            <a:ext cx="19050" cy="4480560"/>
          </a:xfrm>
          <a:prstGeom prst="rect">
            <a:avLst/>
          </a:prstGeom>
          <a:solidFill>
            <a:srgbClr val="64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20240" y="3648075"/>
            <a:ext cx="8595360" cy="19050"/>
          </a:xfrm>
          <a:prstGeom prst="rect">
            <a:avLst/>
          </a:prstGeom>
          <a:solidFill>
            <a:srgbClr val="646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57400" y="1508760"/>
            <a:ext cx="402336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1E7A46"/>
                </a:solidFill>
                <a:latin typeface="Calibri"/>
              </a:rPr>
              <a:t>QUICK 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819656"/>
            <a:ext cx="40233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50" b="0" i="0">
                <a:solidFill>
                  <a:srgbClr val="1E7A46"/>
                </a:solidFill>
                <a:latin typeface="Calibri"/>
              </a:rPr>
              <a:t>Alto impacto · Bajo esfuerzo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402336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002885"/>
                </a:solidFill>
                <a:latin typeface="Calibri"/>
              </a:rPr>
              <a:t>ESTRATÉGICO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19656"/>
            <a:ext cx="40233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50" b="0" i="0">
                <a:solidFill>
                  <a:srgbClr val="002885"/>
                </a:solidFill>
                <a:latin typeface="Calibri"/>
              </a:rPr>
              <a:t>Alto impacto · Alto esfuerzo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749040"/>
            <a:ext cx="402336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646A71"/>
                </a:solidFill>
                <a:latin typeface="Calibri"/>
              </a:rPr>
              <a:t>TÁCTICO / RELLENO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059936"/>
            <a:ext cx="40233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50" b="0" i="0">
                <a:solidFill>
                  <a:srgbClr val="646A71"/>
                </a:solidFill>
                <a:latin typeface="Calibri"/>
              </a:rPr>
              <a:t>Bajo impacto · Bajo esfuerzo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49040"/>
            <a:ext cx="402336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300" b="1" i="0">
                <a:solidFill>
                  <a:srgbClr val="A62A2A"/>
                </a:solidFill>
                <a:latin typeface="Calibri"/>
              </a:rPr>
              <a:t>EVITAR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59936"/>
            <a:ext cx="402336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50" b="0" i="0">
                <a:solidFill>
                  <a:srgbClr val="A62A2A"/>
                </a:solidFill>
                <a:latin typeface="Calibri"/>
              </a:rPr>
              <a:t>Bajo impacto · Alto esfuerzo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1508760"/>
            <a:ext cx="14630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646A71"/>
                </a:solidFill>
                <a:latin typeface="Calibri"/>
              </a:rPr>
              <a:t>▲ Mayor</a:t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182880" y="2971800"/>
            <a:ext cx="1600200" cy="128016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1500" b="1" i="0">
                <a:solidFill>
                  <a:srgbClr val="011C4E"/>
                </a:solidFill>
                <a:latin typeface="Calibri"/>
              </a:rPr>
              <a:t>I M P A C T 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486400"/>
            <a:ext cx="146304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646A71"/>
                </a:solidFill>
                <a:latin typeface="Calibri"/>
              </a:rPr>
              <a:t>▼ Menor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6007608"/>
            <a:ext cx="8595360" cy="3657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300" b="1" i="0">
                <a:solidFill>
                  <a:srgbClr val="011C4E"/>
                </a:solidFill>
                <a:latin typeface="Calibri"/>
              </a:rPr>
              <a:t>E S F U E R Z O   D E   I M P L E M E N T A C I Ó N 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6007608"/>
            <a:ext cx="18288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646A71"/>
                </a:solidFill>
                <a:latin typeface="Calibri"/>
              </a:rPr>
              <a:t>← Menor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007608"/>
            <a:ext cx="1371600" cy="27432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1" i="0">
                <a:solidFill>
                  <a:srgbClr val="646A71"/>
                </a:solidFill>
                <a:latin typeface="Calibri"/>
              </a:rPr>
              <a:t>Mayor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1280160"/>
            <a:ext cx="146304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1100" b="1" i="0">
                <a:solidFill>
                  <a:srgbClr val="011C4E"/>
                </a:solidFill>
                <a:latin typeface="Calibri"/>
              </a:rPr>
              <a:t>Proyectos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1572768"/>
            <a:ext cx="146304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ctr"/>
            <a:r>
              <a:rPr sz="900" b="0" i="0">
                <a:solidFill>
                  <a:srgbClr val="646A71"/>
                </a:solidFill>
                <a:latin typeface="Calibri"/>
              </a:rPr>
              <a:t>(arrastre ←)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44200" y="2054860"/>
            <a:ext cx="1371600" cy="566928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850" b="1">
                <a:solidFill>
                  <a:srgbClr val="011C4E"/>
                </a:solidFill>
                <a:latin typeface="Calibri"/>
              </a:rPr>
              <a:t>Chatbot de admisiones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44200" y="2715768"/>
            <a:ext cx="1371600" cy="566928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850" b="1">
                <a:solidFill>
                  <a:srgbClr val="011C4E"/>
                </a:solidFill>
                <a:latin typeface="Calibri"/>
              </a:rPr>
              <a:t>Predicción de no-shows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44200" y="3374136"/>
            <a:ext cx="1371600" cy="566928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850" b="1">
                <a:solidFill>
                  <a:srgbClr val="011C4E"/>
                </a:solidFill>
                <a:latin typeface="Calibri"/>
              </a:rPr>
              <a:t>Auditoría autom. de glosas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4032504"/>
            <a:ext cx="1371600" cy="566928"/>
          </a:xfrm>
          <a:prstGeom prst="roundRect">
            <a:avLst/>
          </a:prstGeom>
          <a:solidFill>
            <a:srgbClr val="EEF3FB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850" b="1">
                <a:solidFill>
                  <a:srgbClr val="011C4E"/>
                </a:solidFill>
                <a:latin typeface="Calibri"/>
              </a:rPr>
              <a:t>Resumen de normativa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44200" y="4690872"/>
            <a:ext cx="13716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850" b="1" dirty="0">
                <a:solidFill>
                  <a:srgbClr val="646A71"/>
                </a:solidFill>
                <a:latin typeface="Calibri"/>
              </a:rPr>
              <a:t>[ Proyecto A 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349240"/>
            <a:ext cx="13716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850" b="1">
                <a:solidFill>
                  <a:srgbClr val="646A71"/>
                </a:solidFill>
                <a:latin typeface="Calibri"/>
              </a:rPr>
              <a:t>[ Proyecto B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1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2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100" b="1" i="0">
                <a:solidFill>
                  <a:srgbClr val="9DB4E3"/>
                </a:solidFill>
                <a:latin typeface="Calibri"/>
              </a:rPr>
              <a:t>PASO PREVIO — PUNTUE CADA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Hoja de puntuación de proyectos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900" b="0" i="0">
                <a:solidFill>
                  <a:srgbClr val="646A71"/>
                </a:solidFill>
                <a:latin typeface="Calibri"/>
              </a:rPr>
              <a:t>Mundo Salud Medica  ·  Programa Ejecutivo de IA en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286000" cy="32004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6A71"/>
                </a:solidFill>
                <a:latin typeface="Calibri"/>
              </a:rPr>
              <a:t>Modulo 5 · Sesion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Calibri"/>
              </a:rPr>
              <a:t>Asigne a cada proyecto una nota de Impacto (1–5) y de Esfuerzo (1–5). Los de impacto ≥4 y esfuerzo ≤2 son sus Quick Wins.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74519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Proyecto / iniciativa de IA</a:t>
                      </a:r>
                    </a:p>
                  </a:txBody>
                  <a:tcPr anchor="ctr">
                    <a:solidFill>
                      <a:srgbClr val="0028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Impacto (1-5)</a:t>
                      </a:r>
                    </a:p>
                  </a:txBody>
                  <a:tcPr anchor="ctr">
                    <a:solidFill>
                      <a:srgbClr val="0028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Esfuerzo (1-5)</a:t>
                      </a:r>
                    </a:p>
                  </a:txBody>
                  <a:tcPr anchor="ctr">
                    <a:solidFill>
                      <a:srgbClr val="0028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Cuadrante</a:t>
                      </a:r>
                    </a:p>
                  </a:txBody>
                  <a:tcPr anchor="ctr">
                    <a:solidFill>
                      <a:srgbClr val="0028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>
                    <a:solidFill>
                      <a:srgbClr val="0028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Auditoría automatizada de glosas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Estratégico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Chatbot de pre-registro de admisiones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Quick Win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i="1">
                          <a:solidFill>
                            <a:srgbClr val="646A71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439</Words>
  <Application>Microsoft Office PowerPoint</Application>
  <PresentationFormat>Panorámica</PresentationFormat>
  <Paragraphs>72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Nicolás Fernando Bedoya Mejía</dc:creator>
  <cp:keywords/>
  <dc:description>generated using python-pptx</dc:description>
  <cp:lastModifiedBy>Nicolás Fernando Bedoya Mejía</cp:lastModifiedBy>
  <cp:revision>2</cp:revision>
  <dcterms:created xsi:type="dcterms:W3CDTF">2013-01-27T09:14:16Z</dcterms:created>
  <dcterms:modified xsi:type="dcterms:W3CDTF">2026-10-04T18:02:15Z</dcterms:modified>
  <cp:category/>
</cp:coreProperties>
</file>